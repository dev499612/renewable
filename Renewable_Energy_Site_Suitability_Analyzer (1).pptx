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Suitability (0–100)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4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Rajasthan</c:v>
                  </c:pt>
                  <c:pt idx="1">
                    <c:v>Gujarat</c:v>
                  </c:pt>
                  <c:pt idx="2">
                    <c:v>Karnataka</c:v>
                  </c:pt>
                  <c:pt idx="3">
                    <c:v>West Bengal</c:v>
                  </c:pt>
                  <c:pt idx="4">
                    <c:v>Kerala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87</c:v>
                </c:pt>
                <c:pt idx="2">
                  <c:v>74</c:v>
                </c:pt>
                <c:pt idx="3">
                  <c:v>48</c:v>
                </c:pt>
                <c:pt idx="4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4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4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E2EB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7-image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85800"/>
            <a:ext cx="530352" cy="530352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D8F3DC"/>
            </a:solidFill>
            <a:prstDash val="solid"/>
          </a:ln>
        </p:spPr>
      </p:sp>
      <p:pic>
        <p:nvPicPr>
          <p:cNvPr id="3" name="Image 0" descr="icons/so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813816"/>
            <a:ext cx="274320" cy="274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90472" y="685800"/>
            <a:ext cx="530352" cy="530352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D8F3DC"/>
            </a:solidFill>
            <a:prstDash val="solid"/>
          </a:ln>
        </p:spPr>
      </p:sp>
      <p:pic>
        <p:nvPicPr>
          <p:cNvPr id="5" name="Image 1" descr="icons/w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813816"/>
            <a:ext cx="274320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03704" y="685800"/>
            <a:ext cx="530352" cy="530352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D8F3DC"/>
            </a:solidFill>
            <a:prstDash val="solid"/>
          </a:ln>
        </p:spPr>
      </p:sp>
      <p:pic>
        <p:nvPicPr>
          <p:cNvPr id="7" name="Image 2" descr="icons/hyd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813816"/>
            <a:ext cx="2743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916936" y="685800"/>
            <a:ext cx="530352" cy="530352"/>
          </a:xfrm>
          <a:prstGeom prst="ellipse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D8F3DC"/>
            </a:solidFill>
            <a:prstDash val="solid"/>
          </a:ln>
        </p:spPr>
      </p:sp>
      <p:pic>
        <p:nvPicPr>
          <p:cNvPr id="9" name="Image 3" descr="icons/lea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813816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178308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Suitability Analyzer</a:t>
            </a:r>
            <a:endParaRPr lang="en-US" sz="5400" dirty="0"/>
          </a:p>
        </p:txBody>
      </p:sp>
      <p:sp>
        <p:nvSpPr>
          <p:cNvPr id="11" name="Text 5"/>
          <p:cNvSpPr/>
          <p:nvPr/>
        </p:nvSpPr>
        <p:spPr>
          <a:xfrm>
            <a:off x="73152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Optimizing Renewable Energy Infrastructure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731520" y="498348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4A57F"/>
            </a:solidFill>
            <a:prstDash val="solid"/>
          </a:ln>
        </p:spPr>
      </p:sp>
      <p:pic>
        <p:nvPicPr>
          <p:cNvPr id="13" name="Image 4" descr="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330952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45920" y="5138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1645920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Sharma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069080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 Arora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492240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Devang Sharma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8915400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Site Selection Is Broken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658368" cy="65836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416" y="206398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196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Decision Making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1488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site selection relies on hard-coded rules and manual thresholds (e.g., “if solar &gt; x”) that never adapt.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127248"/>
            <a:ext cx="658368" cy="65836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1" name="Image 1" descr="icons/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329842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054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Ignored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45920" y="33832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Multi-dimensional, non-linear correlations between irradiance, humidity, cloud cover, and temperature are lost.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361688"/>
            <a:ext cx="658368" cy="65836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6" name="Image 2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6" y="453286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8853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Issues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6177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geographic context demands heavy manual re-tuning and scarce domain expertise.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543800" y="1691640"/>
            <a:ext cx="4114800" cy="4617720"/>
          </a:xfrm>
          <a:prstGeom prst="roundRect">
            <a:avLst>
              <a:gd name="adj" fmla="val 2222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81C15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89720" y="2057400"/>
            <a:ext cx="822960" cy="822960"/>
          </a:xfrm>
          <a:prstGeom prst="ellipse">
            <a:avLst/>
          </a:prstGeom>
          <a:solidFill>
            <a:srgbClr val="0F2A1F"/>
          </a:solidFill>
          <a:ln/>
        </p:spPr>
      </p:sp>
      <p:pic>
        <p:nvPicPr>
          <p:cNvPr id="21" name="Image 3" descr="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3690" y="22713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863840" y="3474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unbiased, automated way to pinpoint optimal locations for renewable infrastructure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863840" y="5074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the clean energy transition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MATERIAL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Statewise Climate &amp; Renewable Energy Dataset — India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climate measurements across Indian States and Union Territories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D8F3DC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2315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21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/ TEMPORAL FIELDS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23957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  •   Longitude   •   State / UT   •   Year   •   Month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352958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429000"/>
            <a:ext cx="685800" cy="685800"/>
          </a:xfrm>
          <a:prstGeom prst="ellipse">
            <a:avLst/>
          </a:prstGeom>
          <a:solidFill>
            <a:srgbClr val="F0F7F1"/>
          </a:solidFill>
          <a:ln/>
        </p:spPr>
      </p:sp>
      <p:pic>
        <p:nvPicPr>
          <p:cNvPr id="12" name="Image 1" descr="icons/cloud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36073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584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868680" y="434340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Normal Irradiance (DNI)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Horizontal Irradiance (GHI)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Opacity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Albedo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34256" y="3200400"/>
            <a:ext cx="352958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62856" y="3429000"/>
            <a:ext cx="685800" cy="685800"/>
          </a:xfrm>
          <a:prstGeom prst="ellipse">
            <a:avLst/>
          </a:prstGeom>
          <a:solidFill>
            <a:srgbClr val="F0F7F1"/>
          </a:solidFill>
          <a:ln/>
        </p:spPr>
      </p:sp>
      <p:pic>
        <p:nvPicPr>
          <p:cNvPr id="17" name="Image 2" descr="icons/wi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164" y="36073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85816" y="3584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654296" y="434340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at 100 m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Pressure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19872" y="3200400"/>
            <a:ext cx="352958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48472" y="3429000"/>
            <a:ext cx="685800" cy="685800"/>
          </a:xfrm>
          <a:prstGeom prst="ellipse">
            <a:avLst/>
          </a:prstGeom>
          <a:solidFill>
            <a:srgbClr val="F0F7F1"/>
          </a:solidFill>
          <a:ln/>
        </p:spPr>
      </p:sp>
      <p:pic>
        <p:nvPicPr>
          <p:cNvPr id="22" name="Image 3" descr="icons/hydr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36073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71432" y="3584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 / Biomass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439912" y="434340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Rate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Humidity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Workflow: Raw Data to Interactive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2377440"/>
            <a:ext cx="960120" cy="9601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943" y="26270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Pre-processing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088" y="4160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Imputes missing values, drops duplicates, corrects data-entry anomalies such as temperature shifts.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0896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29000" y="210312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9392" y="2377440"/>
            <a:ext cx="960120" cy="9601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2" name="Image 1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023" y="26270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Standardization + PCA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0168" y="4160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feature subsets; PCA removes multicollinearity while retaining ≥ 95% variance.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03504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355080" y="210312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05472" y="2377440"/>
            <a:ext cx="960120" cy="9601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8" name="Image 2" descr="icons/clu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103" y="262707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9672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K-Means Clustering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56248" y="4160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K from 2 to 10 with Silhouette Scores to auto-select the optimal number of climate zones.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96112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281160" y="210312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31552" y="2377440"/>
            <a:ext cx="960120" cy="9601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4" name="Image 3" descr="icons/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1183" y="2627071"/>
            <a:ext cx="460858" cy="46085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45752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Visualization Engine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482328" y="4160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from all models merge into an interactive Streamlit dashboard.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2103120" y="5715000"/>
            <a:ext cx="7982712" cy="640080"/>
          </a:xfrm>
          <a:prstGeom prst="roundRect">
            <a:avLst>
              <a:gd name="adj" fmla="val 12857"/>
            </a:avLst>
          </a:prstGeom>
          <a:solidFill>
            <a:srgbClr val="1B4332"/>
          </a:solidFill>
          <a:ln/>
        </p:spPr>
      </p:sp>
      <p:sp>
        <p:nvSpPr>
          <p:cNvPr id="28" name="Text 22"/>
          <p:cNvSpPr/>
          <p:nvPr/>
        </p:nvSpPr>
        <p:spPr>
          <a:xfrm>
            <a:off x="2103120" y="5715000"/>
            <a:ext cx="7982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pipeline — no manual thresholds at any stage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AI/ML Core Different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731520" cy="7315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Framework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35000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rules. Models discover natural groupings and suitability profiles directly from the data itself.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7498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520440"/>
            <a:ext cx="731520" cy="7315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1" name="Image 1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37106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4472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Architecture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37360" y="381304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entirely independent models — Solar, Wind, Hydro, Biomass — each tailored precisely to its own climate drivers.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7498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983480"/>
            <a:ext cx="731520" cy="7315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6" name="Image 2" descr="icons/insigh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51736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910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Interpretation Engine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527608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cluster_insights.py translates raw Z-scores into human-readable insights and 0–100 suitability percentiles.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321040" y="1783080"/>
            <a:ext cx="3337560" cy="4434840"/>
          </a:xfrm>
          <a:prstGeom prst="roundRect">
            <a:avLst>
              <a:gd name="adj" fmla="val 274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81C15">
                <a:alpha val="3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549640" y="2103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CLUSTER, NAMED BY THE SYSTEM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601200" y="2743200"/>
            <a:ext cx="777240" cy="777240"/>
          </a:xfrm>
          <a:prstGeom prst="ellipse">
            <a:avLst/>
          </a:prstGeom>
          <a:solidFill>
            <a:srgbClr val="0F2A1F"/>
          </a:solidFill>
          <a:ln/>
        </p:spPr>
      </p:sp>
      <p:pic>
        <p:nvPicPr>
          <p:cNvPr id="22" name="Image 3" descr="icons/cloudsu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282" y="294528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49640" y="37033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“High Solar Potential Climate (Sunny)”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595360" y="48920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dynamically from cluster Z-score signatures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Demo Highlights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9584" cy="41148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3072384" cy="1783080"/>
          </a:xfrm>
          <a:prstGeom prst="roundRect">
            <a:avLst>
              <a:gd name="adj" fmla="val 3590"/>
            </a:avLst>
          </a:prstGeom>
          <a:solidFill>
            <a:srgbClr val="F0F7F1"/>
          </a:solidFill>
          <a:ln w="12700">
            <a:solidFill>
              <a:srgbClr val="74A57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28800" y="2514600"/>
            <a:ext cx="868680" cy="86868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7" name="Image 0" descr="icons/searchl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657" y="274045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290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Overview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462272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cluster naming, Suitability Score, and generated recommendations.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4406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assets/solar_analysis.png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34256" y="1874520"/>
            <a:ext cx="3529584" cy="41148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2103120"/>
            <a:ext cx="3072384" cy="1783080"/>
          </a:xfrm>
          <a:prstGeom prst="roundRect">
            <a:avLst>
              <a:gd name="adj" fmla="val 3590"/>
            </a:avLst>
          </a:prstGeom>
          <a:solidFill>
            <a:srgbClr val="F0F7F1"/>
          </a:solidFill>
          <a:ln w="12700">
            <a:solidFill>
              <a:srgbClr val="74A57F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5614416" y="2514600"/>
            <a:ext cx="868680" cy="86868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5" name="Image 1" descr="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273" y="2740457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62856" y="34290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08576" y="40690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Comparison Tab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08576" y="4462272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any two states across climate metrics.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08576" y="54406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assets/state_comparison.png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19872" y="1874520"/>
            <a:ext cx="3529584" cy="411480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48472" y="2103120"/>
            <a:ext cx="3072384" cy="1783080"/>
          </a:xfrm>
          <a:prstGeom prst="roundRect">
            <a:avLst>
              <a:gd name="adj" fmla="val 3590"/>
            </a:avLst>
          </a:prstGeom>
          <a:solidFill>
            <a:srgbClr val="F0F7F1"/>
          </a:solidFill>
          <a:ln w="12700">
            <a:solidFill>
              <a:srgbClr val="74A57F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9400032" y="2514600"/>
            <a:ext cx="868680" cy="86868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3" name="Image 2" descr="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5889" y="2740457"/>
            <a:ext cx="416966" cy="41696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48472" y="34290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94192" y="40690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Demo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394192" y="4462272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resources and drill into per-state analysis in real time.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94192" y="54406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assets/dashboard_demo.webp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Sample Outputs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Validation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solar suitability scores from the model's cluster percentiles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69748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6858000" y="1783080"/>
            <a:ext cx="4800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86600" y="2011680"/>
            <a:ext cx="685800" cy="6858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0" name="Image 0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21899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0" y="20756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States Identified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132320" y="27432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with &lt; 70% cluster confidence sit on climate transition borders — prime candidates for Hybrid Energy (e.g., Wind + Hydro farms).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0" y="4114800"/>
            <a:ext cx="4800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4343400"/>
            <a:ext cx="685800" cy="6858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5" name="Image 1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08" y="45217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55280" y="4407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Rankings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132320" y="50749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are ranked objectively from the Standard Normal CDF of their weather features — desert states cluster high for solar, humid states low.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Responsible Use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95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F6E3DE"/>
          </a:solidFill>
          <a:ln/>
        </p:spPr>
      </p:sp>
      <p:pic>
        <p:nvPicPr>
          <p:cNvPr id="6" name="Image 0" descr="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22238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averages only — true suitability varies at micro-geographic levels (valleys, shade, local topology).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4256" y="1828800"/>
            <a:ext cx="35295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2057400"/>
            <a:ext cx="640080" cy="640080"/>
          </a:xfrm>
          <a:prstGeom prst="ellipse">
            <a:avLst/>
          </a:prstGeom>
          <a:solidFill>
            <a:srgbClr val="F6E3DE"/>
          </a:solidFill>
          <a:ln/>
        </p:spPr>
      </p:sp>
      <p:pic>
        <p:nvPicPr>
          <p:cNvPr id="11" name="Image 1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277" y="22238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Non-Climate Variables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accessibility, land-use law, and proximity to transmission lines are outside the model's view.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19872" y="1828800"/>
            <a:ext cx="35295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2057400"/>
            <a:ext cx="640080" cy="640080"/>
          </a:xfrm>
          <a:prstGeom prst="ellipse">
            <a:avLst/>
          </a:prstGeom>
          <a:solidFill>
            <a:srgbClr val="F6E3DE"/>
          </a:solidFill>
          <a:ln/>
        </p:spPr>
      </p:sp>
      <p:pic>
        <p:nvPicPr>
          <p:cNvPr id="16" name="Image 2" descr="icons/clu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893" y="22238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assumes spherical clusters, which may not capture the irregular boundaries of natural climate zones.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081C1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5138928"/>
            <a:ext cx="777240" cy="777240"/>
          </a:xfrm>
          <a:prstGeom prst="ellipse">
            <a:avLst/>
          </a:prstGeom>
          <a:solidFill>
            <a:srgbClr val="0F2A1F"/>
          </a:solidFill>
          <a:ln/>
        </p:spPr>
      </p:sp>
      <p:pic>
        <p:nvPicPr>
          <p:cNvPr id="21" name="Image 3" descr="icons/balance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482" y="534101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1168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011680" y="5413248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strategic guide for policymakers and planners — not a replacement for on-the-ground feasibility studies.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2980" y="2834640"/>
            <a:ext cx="0" cy="822960"/>
          </a:xfrm>
          <a:prstGeom prst="line">
            <a:avLst/>
          </a:prstGeom>
          <a:noFill/>
          <a:ln w="25400">
            <a:solidFill>
              <a:srgbClr val="74A57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91640" y="1828800"/>
            <a:ext cx="9966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2121408"/>
            <a:ext cx="731520" cy="7315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0" descr="icons/satell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435" y="231160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880360" y="2057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Spatial Data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880360" y="2450592"/>
            <a:ext cx="8549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from state averages to raster satellite telemetry (GIS spatial maps) for precise coordinate-level suitability.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6576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82980" y="4343400"/>
            <a:ext cx="0" cy="822960"/>
          </a:xfrm>
          <a:prstGeom prst="line">
            <a:avLst/>
          </a:prstGeom>
          <a:noFill/>
          <a:ln w="25400">
            <a:solidFill>
              <a:srgbClr val="74A57F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691640" y="3337560"/>
            <a:ext cx="9966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20240" y="3630168"/>
            <a:ext cx="731520" cy="7315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1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35" y="3820363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80360" y="3566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Overlays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2880360" y="3959352"/>
            <a:ext cx="8549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economic layers: proximity to transmission lines, protected areas, and construction costs.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" y="516636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5166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1691640" y="4846320"/>
            <a:ext cx="9966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B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4332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920240" y="5138928"/>
            <a:ext cx="731520" cy="7315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4" name="Image 2" descr="icons/seedl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435" y="5329123"/>
            <a:ext cx="351130" cy="3511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880360" y="50749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Labeling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2880360" y="5468112"/>
            <a:ext cx="8549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clustering with verified high-performance commercial farms to ground suitability tiers in proven industry baselines.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 Leap Forward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Energy Planning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1546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4A5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429000"/>
            <a:ext cx="685800" cy="685800"/>
          </a:xfrm>
          <a:prstGeom prst="ellipse">
            <a:avLst/>
          </a:prstGeom>
          <a:solidFill>
            <a:srgbClr val="0F2A1F"/>
          </a:solidFill>
          <a:ln/>
        </p:spPr>
      </p:sp>
      <p:pic>
        <p:nvPicPr>
          <p:cNvPr id="6" name="Image 0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8" y="36073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over static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584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 replaces fixed thresholds, eliminating human bias.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31546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4A57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3429000"/>
            <a:ext cx="685800" cy="685800"/>
          </a:xfrm>
          <a:prstGeom prst="ellipse">
            <a:avLst/>
          </a:prstGeom>
          <a:solidFill>
            <a:srgbClr val="0F2A1F"/>
          </a:solidFill>
          <a:ln/>
        </p:spPr>
      </p:sp>
      <p:pic>
        <p:nvPicPr>
          <p:cNvPr id="11" name="Image 1" descr="icons/random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48" y="36073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captured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6344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meteorological correlations are modeled, not ignored.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31546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4A57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3429000"/>
            <a:ext cx="685800" cy="685800"/>
          </a:xfrm>
          <a:prstGeom prst="ellipse">
            <a:avLst/>
          </a:prstGeom>
          <a:solidFill>
            <a:srgbClr val="0F2A1F"/>
          </a:solidFill>
          <a:ln/>
        </p:spPr>
      </p:sp>
      <p:pic>
        <p:nvPicPr>
          <p:cNvPr id="16" name="Image 2" descr="icons/check_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48" y="36073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adaptable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2104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get data-driven decisions for the sustainable energy transition.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Site Suitability Analyzer  •  Aditya • Ansh • Devang • Samar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503920" y="685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i="1" dirty="0">
                <a:solidFill>
                  <a:srgbClr val="D8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2026-07-14T12:40:20Z</dcterms:created>
  <dcterms:modified xsi:type="dcterms:W3CDTF">2026-07-14T12:40:20Z</dcterms:modified>
</cp:coreProperties>
</file>